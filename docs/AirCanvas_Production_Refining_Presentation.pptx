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발표에서는 단일 사용자 환경의 PoC 프로토타입이었던 Canvas 프로젝트를 파라미터화, 예외 처리, 동시성 성능 최적화, 구조화 로깅, 그리고 CI/CD 자동화 안전망이라는 4대 축을 통해 실무자 수준의 무중단 시스템으로 발전시킨 과정과 실제 측정 데이터를 발표하겠습니다.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시스템 아키텍처를 간략히 설명드리겠습니다. 저희 시스템은 스마트폰 카메라로 손동작을 촬영하여 PC 캔버스를 원격 제어하는 3-Tier 분산 마이크로서비스입니다.</a:t>
            </a:r>
          </a:p>
          <a:p/>
          <a:p>
            <a:r>
              <a:t>1. Container A는 TLS 보안 게이트웨이로서, QR 코드를 통해 스마트폰과 PC를 1:1 세션으로 매칭하고 비디오 프레임을 중계합니다.</a:t>
            </a:r>
          </a:p>
          <a:p>
            <a:r>
              <a:t>2. Container B는 유입된 비디오 프레임에서 Google MediaPipe AI를 통해 21개 관절의 3D 정규화 좌표를 추출합니다. 즉, 무거운 7KB 픽셀 이미지를 초경량 500바이트 좌표 배열로 고속 압축하는 역할을 담당합니다.</a:t>
            </a:r>
          </a:p>
          <a:p>
            <a:r>
              <a:t>3. Container C는 압축된 좌표 간의 기하학적 거리 비율을 분석하여 6대 제스처를 판별하고, 속도 적응형 EMA 필터로 손떨림 노이즈를 제어하여 PC 캔버스에 제어 명령을 전달합니다.</a:t>
            </a:r>
          </a:p>
          <a:p/>
          <a:p>
            <a:r>
              <a:t>이 3-Tier 아키텍처는 기능적으로 완벽히 동작했습니다. 하지만 실제 운영 환경의 관점에서 코드를 진단했을 때, 언제 터질지 모르는 심각한 엔지니어링 결함들이 발견되었습니다.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 축은 '파라미터화 및 설정 단일 출처화'입니다.</a:t>
            </a:r>
          </a:p>
          <a:p/>
          <a:p>
            <a:r>
              <a:t>기존에는 네트워크 IP, 포트 번호, 그리고 엄지 각도(0.15), 지우개 높이차(0.12), 줌 속도(0.008) 등 9가지 매직넘버가 소스코드 전반에 직접 기재되어 있었습니다. 이로 인해 임계값을 튜닝하거나 장소를 옮길 때마다 코드를 고치고 도커 이미지를 재빌드해야 했습니다.</a:t>
            </a:r>
          </a:p>
          <a:p/>
          <a:p>
            <a:r>
              <a:t>저희는 config/default.yaml을 시스템의 단일 출처(Single Source of Truth)로 수립하고 환경변수 오버라이드가 가능하게 계층화했습니다. 특히 컨테이너 내부가 아닌 호스트 기동 스크립트(scripts/compose_up.py)에서 외부 라우팅 테이블(UDP 더미 소켓)을 통해 런타임에 호스트의 실제 Wi-Fi LAN IP를 자동 탐지하여 주입하도록 구축했습니다.</a:t>
            </a:r>
          </a:p>
          <a:p/>
          <a:p>
            <a:r>
              <a:t>이제 어떤 네트워크 환경에서 구동하든 코드 수정 없이 QR 코드가 올바른 접속 주소를 생성합니다.</a:t>
            </a:r>
          </a:p>
          <a:p/>
          <a:p>
            <a:r>
              <a:t>소스 내 IP 및 포트 리터럴은 0개로 완전히 제거되었으며, 기존의 6대 제스처 판별 결과는 완벽히 보존되었습니다.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축은 '예외 처리와 시스템 복구 탄력성'입니다.</a:t>
            </a:r>
          </a:p>
          <a:p>
            <a:r>
              <a:t>예외처리에 있어서 코드적인 부분에서는 TimeoutException(시간), ConnectError(연결) 등으로 세분화하여 처리했습니다.</a:t>
            </a:r>
          </a:p>
          <a:p/>
          <a:p>
            <a:r>
              <a:t>보통 웹사이트는 에러가 나면 3초, 5초 동안 계속 재시도를 합니다. 하지만 저희는 스마트폰에서 초당 30장(33ms 주기)의 프레임이 쏟아지는 실시간 시스템입니다. 실패한 옛날 사진 한 장 붙잡고 몇 초씩 재시도하면 뒤에 오는 프레임들이 줄줄이 밀려 극심한 렉(지연)이 발생합니다. 그래서 딱 0.05초(50ms)만 가볍게 2번 다시 찔러보고, 안 되면 옛날 프레임은 버리고 최신 프레임으로 바로 넘어가도록 최적화했습니다. 그리고 연속 10번 실패하면 아예 요청을 잠시 차단하는 서킷 브레이커를 적용했습니다.</a:t>
            </a:r>
          </a:p>
          <a:p/>
          <a:p>
            <a:r>
              <a:t>나아가 Graceful Degradation(우아한 기능 저하)을 구현했습니다. 기존에는 모션 엔진이 죽으면 웹서버가 null 좌표를 받고 같이 튕겨버렸습니다. 하지만 수정 후에는 데이터 스키마(schemas.py)가 기본 좌표를 자동으로 채워주고, 웹서버가 에러를 감지하면 연결을 끊는 대신 상태를 '점검 중'으로 부드럽게 전환합니다.</a:t>
            </a:r>
          </a:p>
          <a:p/>
          <a:p>
            <a:r>
              <a:t>실제로 모션엔진을 끄고 검증에 성공했고 또한 단순히 내 웹서버만 살아있는지 확인하는 게 아니라, 뒤편의 비전과 모션 엔진까지 실제로 정상 작동하는지 한 번에 검진해 주는 종합 헬스체크 엔드포인트(/health/ready)까지 구축하여 복구 탄력성을 높였습니다.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축은 '동시성 제어와 성능 최적화'이며, 이번 고도화에서 가장 극적인 성능 개선을 달성한 파트입니다.</a:t>
            </a:r>
          </a:p>
          <a:p/>
          <a:p>
            <a:r>
              <a:t>저희 비전 서버는 비동기 프레임워크인 FastAPI로 만들어졌습니다. FastAPI는 수많은 네트워크 요청을 번갈아 처리하는 '단일 이벤트 루프' 방식입니다. 그런데 여기서 용량이 큰 이미지 디코딩과 15~40ms씩 걸리는 무거운 MediaPipe AI 추론을 계산하다보니 프리징이 와 요청을 빠르게 처리하지 못하고 줄줄이 대기열에 갇히는 심각한 병목이 생겼습니다.</a:t>
            </a:r>
          </a:p>
          <a:p/>
          <a:p>
            <a:r>
              <a:t>MediaPipe의 비디오 모드는 손동작을 부드럽게 잇기 위해 '직전 프레임의 손 위치'를 메모리에 기억하는 특성이 있습니다. 그런데 단 1개의 AI 모델을 모든 사용자가 공유하다 보니, A의 손 위치와 B의 손 위치가 뒤섞여 손 궤적이 엉망으로 튀는 상태 오염이 일어났습니다. 또한 컴퓨터 시계(time.time())를 쓰다 보니 여러 사람의 요청이 섞여 시간 순서가 뒤집혀 AI 엔진이 튕기는 에러까지 발생했습니다.</a:t>
            </a:r>
          </a:p>
          <a:p/>
          <a:p>
            <a:r>
              <a:t>이런 동시성 제어와 성능 최적화를 3단계 정도로 해결했습니다.</a:t>
            </a:r>
          </a:p>
          <a:p/>
          <a:p>
            <a:r>
              <a:t>스레드풀 오프로딩(run_in_threadpool): 메인 요청만 받고, 무거운 AI 연산은 뒤편의 여러 워커 스레드에게 던져주어 메인 창구가 0초 만에 다음 요청을 받도록 분리했습니다.</a:t>
            </a:r>
          </a:p>
          <a:p/>
          <a:p>
            <a:r>
              <a:t>DetectorPool 구축: 세션마다 독립된 전용 AI 모델을 배정하고, 컴퓨터 시계 대신 각 세션마다 '1번, 2번, 3번...' 고유 번호표를 매기는 자체 단조 증가 타임스탬프를 부여해 시간 역전 충돌을 원천 차단했습니다.</a:t>
            </a:r>
          </a:p>
          <a:p/>
          <a:p>
            <a:r>
              <a:t>LRU + TTL 자동 메모리 회수: 세션마다 AI 모델을 만들면 메모리가 꽉 찰 수 있기 때문에, 사용자가 접속을 종료하거나 10분(600초) 동안 활동이 없으면 가장 오래 안 쓴 모델부터 메모리에서 깔끔하게 청소하여 메모리 누수를 방지했습니다.</a:t>
            </a:r>
          </a:p>
          <a:p/>
          <a:p>
            <a:r>
              <a:t>그 결과, 동일 머신 실측 벤치마크에서 동시 4세션 처리량이 56.7 fps에서 121.6 fps로 114% (2.1배) 급증했고, 지연 시간은 69.1ms에서 24.9ms로 64%나 대폭 단축되었습니다.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축은 '구조화 로깅 및 관측 가능성(Observability)'입니다.</a:t>
            </a:r>
          </a:p>
          <a:p/>
          <a:p>
            <a:r>
              <a:t>저희는 3개 컨테이너 전체에 표준 JSON 포맷을 출력하는 공통 구조화 로거(common/logging_setup.py)를 구축했습니다.</a:t>
            </a:r>
          </a:p>
          <a:p/>
          <a:p>
            <a:r>
              <a:t>개발자는 코드 안에서 logger.info(), logger.warning()처럼 이벤트 이름과 세션 ID, 세부 데이터(detail)를 딕셔너리로 넘기기만 하면 됩니다. 그러면 화면에 보이는 것처럼 타임스탬프, 컨테이너 이름, 로그 레벨, 세션 ID, 그리고 프레임 고유 번호인 trace_id가 규격화된 한 줄의 JSON 데이터로 자동 생성되어 터미널과 파일에 동시에 저장됩니다.</a:t>
            </a:r>
          </a:p>
          <a:p/>
          <a:p>
            <a:r>
              <a:t>이렇게 표준화해 둔 덕분에, 마이크로서비스 환경에서 장애가 발생했을 때 trace_id 하나만 검색하면 [Container A 수신 ➔ B AI 추론 ➔ C 모션 판별 ➔ A 반환]으로 이어지는 전 구간의 처리 시간과 흐름을 1밀리초 단위로 한눈에 역추적할 수 있습니다. 에러가 발생하면 에러 코드뿐만 아니라 몇 번째 줄에서 터졌는지 전체 Traceback이 JSON 안에 통째로 보존됩니다.</a:t>
            </a:r>
          </a:p>
          <a:p/>
          <a:p>
            <a:r>
              <a:t>/* 1. Container A가 스마트폰 프레임 수신 (10:00:00.100) */</a:t>
            </a:r>
          </a:p>
          <a:p>
            <a:r>
              <a:t>{"ts":100, "container":"A", "trace_id":"user1-frame-45", "event":"frame_received"}</a:t>
            </a:r>
          </a:p>
          <a:p/>
          <a:p>
            <a:r>
              <a:t>/* 2. Container B가 AI 추론 완료에 15ms 걸림 (10:00:00.115) */</a:t>
            </a:r>
          </a:p>
          <a:p>
            <a:r>
              <a:t>{"ts":115, "container":"B", "trace_id":"user1-frame-45", "event":"inference_done", "detail":{"inference_ms":15.2}}</a:t>
            </a:r>
          </a:p>
          <a:p/>
          <a:p>
            <a:r>
              <a:t>/* 3. Container C가 제스처 판별에 0.5ms 걸림 (10:00:00.118) */</a:t>
            </a:r>
          </a:p>
          <a:p>
            <a:r>
              <a:t>{"ts":118, "container":"C", "trace_id":"user1-frame-45", "event":"gesture_computed", "detail":{"action":"DRAW"}}</a:t>
            </a:r>
          </a:p>
          <a:p/>
          <a:p>
            <a:r>
              <a:t>/* 4. Container A가 PC 캔버스에 최종 전송 완료 (10:00:00.120) */</a:t>
            </a:r>
          </a:p>
          <a:p>
            <a:r>
              <a:t>{"ts":120, "container":"A", "trace_id":"user1-frame-45", "event":"frame_relayed", "detail":{"total_rtt_ms":20.0}}</a:t>
            </a:r>
          </a:p>
          <a:p/>
          <a:p>
            <a:r>
              <a:t>특히 초당 30프레임이 쏟아지는 고빈도 스트리밍 환경에서 디스크 I/O 병목을 방지하기 위해, 정상 프레임은 30개당 1개만 요약 기록하는 스마트 샘플링을 적용했고, 예외 발생 시에는 전체 Traceback을 로테이션 파일에 즉시 영속화하여 시스템 관측성을 완성했습니다.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이 모든 4대 축과 코드 품질을 영구적으로 지켜주는 핵심 엔진, 'GitHub Actions CI/CD 파이프라인과 pytest'입니다.</a:t>
            </a:r>
          </a:p>
          <a:p/>
          <a:p>
            <a:r>
              <a:t>저희는 코드를 깃허브에 올리기만 하면(git push), 깃허브 클라우드에서 다음 4단계의 자동 검사 공정이 순서대로 실행되도록 구축했습니다.</a:t>
            </a:r>
          </a:p>
          <a:p/>
          <a:p>
            <a:r>
              <a:t>1단계 [문법 검사 - Lint]:</a:t>
            </a:r>
          </a:p>
          <a:p>
            <a:r>
              <a:t>가장 먼저 Ruff 린터를 통해 3개 컨테이너 전체의 오타나 들여쓰기, 불필요한 import 같은 문법적 실수를 수초 만에 걸러냅니다.</a:t>
            </a:r>
          </a:p>
          <a:p/>
          <a:p>
            <a:r>
              <a:t>2단계 [경량 테스트 - test-light (pytest)]:</a:t>
            </a:r>
          </a:p>
          <a:p>
            <a:r>
              <a:t>여기서 pytest의 단위(Unit) 및 통합(Integration) 레이어가 본격적으로 가동됩니다.</a:t>
            </a:r>
          </a:p>
          <a:p>
            <a:r>
              <a:t>단위 테스트: 카메라 없이 21개 관절 좌표를 즉시 만들어내는 '합성 랜드마크 팩토리'를 통해, 6대 제스처 판별과 손떨림 보정 공식이 정확한지 검증합니다. 또한 소스 전체를 스캔하여 IP 하드코딩이나 except: pass, print() 같은 안티패턴이 한 줄이라도 있으면 빌드를 강제로 깨뜨립니다.</a:t>
            </a:r>
          </a:p>
          <a:p>
            <a:r>
              <a:t>통합 테스트: 스마트폰과 PC의 1:1 QR 세션 매칭, 방 퇴장 시 메모리 자동 청소, 그리고 엔진이 다운되어도 웹서버가 튕기지 않고 안내 배너를 띄우며 살아남는 장애 생존성(Degradation)을 검증합니다.</a:t>
            </a:r>
          </a:p>
          <a:p/>
          <a:p>
            <a:r>
              <a:t>3단계 [비전 격리 테스트 - test-vision (pytest)]:</a:t>
            </a:r>
          </a:p>
          <a:p>
            <a:r>
              <a:t>pytest의 비전 레이어입니다. 용량이 큰 MediaPipe AI 모델을 깃허브 캐시에서 빠르게 불러와, 2명이 동시 접속했을 때 각자 전용 AI 모델을 받아 서로의 손 좌표를 간섭하지 않는지(세션 격리)와 타임스탬프가 꼬이지 않는지를 정밀 검증합니다.</a:t>
            </a:r>
          </a:p>
          <a:p/>
          <a:p>
            <a:r>
              <a:t>4단계 [도커 빌드 및 최종 기동 검사 - build]:</a:t>
            </a:r>
          </a:p>
          <a:p>
            <a:r>
              <a:t>앞선 테스트들을 모두 통과하면, 실제로 Docker Compose로 3개 이미지를 빌드하고 컨테이너를 가상으로 띄웁니다. 그리고 /health 엔드포인트를 찔러보아 웹서버, 비전 엔진, 모션 엔진 3개가 모두 완벽하게 'Healthy' 상태로 살아나는지 확인한 후 최종 합격(초록불)을 줍니다.</a:t>
            </a:r>
          </a:p>
          <a:p/>
          <a:p>
            <a:r>
              <a:t>그 결과, 총 97개의 정밀 테스트와 도커 빌드가 단 8.69초 만에 100% 전자동으로 검증되는 무결점 CI/CD 안전망을 완성했습니다.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a:t>
            </a:r>
          </a:p>
          <a:p>
            <a:r>
              <a:t>1. 관측 불가능했던 시스템이 session_id 하나로 전 구간 추적 가능한 시스템이 되었습니다.</a:t>
            </a:r>
          </a:p>
          <a:p>
            <a:r>
              <a:t>2. 조용히 죽어버리던 시스템이 장애를 통지하고 살아남는 회복 탄력적 시스템이 되었습니다.</a:t>
            </a:r>
          </a:p>
          <a:p>
            <a:r>
              <a:t>3. 2명만 접속해도 꼬이던 단일 모델이 동시 4세션에서 처리량이 2배 이상 증가하는 고성능 멀티세션 아키텍처로 진화했습니다.</a:t>
            </a:r>
          </a:p>
          <a:p>
            <a:r>
              <a:t>4. 그리고 이 모든 엔지니어링 기준이 97개의 자동화 테스트와 CI 파이프라인에 의해 영구적으로 보호받고 있습니다.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731520" y="1371600"/>
            <a:ext cx="3840480" cy="41148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latin typeface="Segoe UI"/>
              </a:defRPr>
            </a:pPr>
            <a:r>
              <a:t>PRODUCTION REFINING BLUEPRINT</a:t>
            </a:r>
          </a:p>
        </p:txBody>
      </p:sp>
      <p:sp>
        <p:nvSpPr>
          <p:cNvPr id="3" name="TextBox 2"/>
          <p:cNvSpPr txBox="1"/>
          <p:nvPr/>
        </p:nvSpPr>
        <p:spPr>
          <a:xfrm>
            <a:off x="731520" y="2011680"/>
            <a:ext cx="10698480" cy="1828800"/>
          </a:xfrm>
          <a:prstGeom prst="rect">
            <a:avLst/>
          </a:prstGeom>
          <a:noFill/>
        </p:spPr>
        <p:txBody>
          <a:bodyPr wrap="square">
            <a:spAutoFit/>
          </a:bodyPr>
          <a:lstStyle/>
          <a:p>
            <a:pPr>
              <a:defRPr sz="3800" b="1">
                <a:solidFill>
                  <a:srgbClr val="F8FAFC"/>
                </a:solidFill>
                <a:latin typeface="Segoe UI"/>
              </a:defRPr>
            </a:pPr>
            <a:r>
              <a:t>Air Canvas 시스템</a:t>
            </a:r>
          </a:p>
          <a:p>
            <a:pPr>
              <a:spcBef>
                <a:spcPts val="800"/>
              </a:spcBef>
              <a:defRPr sz="2800" b="1">
                <a:solidFill>
                  <a:srgbClr val="38BDF8"/>
                </a:solidFill>
                <a:latin typeface="Segoe UI"/>
              </a:defRPr>
            </a:pPr>
            <a:r>
              <a:t>프로덕션 레벨 고도화 및 CI/CD 파이프라인 구축기</a:t>
            </a:r>
          </a:p>
          <a:p>
            <a:pPr>
              <a:spcBef>
                <a:spcPts val="1400"/>
              </a:spcBef>
              <a:defRPr sz="1400">
                <a:solidFill>
                  <a:srgbClr val="94A3B8"/>
                </a:solidFill>
                <a:latin typeface="Segoe UI"/>
              </a:defRPr>
            </a:pPr>
            <a:r>
              <a:t>4대 엔지니어링 축 (파라미터화 · 예외처리 · 동시성 성능 · 구조화 로깅) + GitHub Actions &amp; pytest</a:t>
            </a:r>
          </a:p>
        </p:txBody>
      </p:sp>
      <p:sp>
        <p:nvSpPr>
          <p:cNvPr id="4" name="Rounded Rectangle 3"/>
          <p:cNvSpPr/>
          <p:nvPr/>
        </p:nvSpPr>
        <p:spPr>
          <a:xfrm>
            <a:off x="731520" y="4297680"/>
            <a:ext cx="2560320" cy="164592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latin typeface="Segoe UI"/>
              </a:defRPr>
            </a:pPr>
            <a:r>
              <a:t>Pillar 1. 파라미터화</a:t>
            </a:r>
          </a:p>
          <a:p>
            <a:pPr>
              <a:spcBef>
                <a:spcPts val="600"/>
              </a:spcBef>
              <a:defRPr sz="1100">
                <a:solidFill>
                  <a:srgbClr val="94A3B8"/>
                </a:solidFill>
                <a:latin typeface="Segoe UI"/>
              </a:defRPr>
            </a:pPr>
            <a:r>
              <a:t>IP/포트/매직넘버 제거 &amp; 단일 출처화</a:t>
            </a:r>
          </a:p>
        </p:txBody>
      </p:sp>
      <p:sp>
        <p:nvSpPr>
          <p:cNvPr id="5" name="Rounded Rectangle 4"/>
          <p:cNvSpPr/>
          <p:nvPr/>
        </p:nvSpPr>
        <p:spPr>
          <a:xfrm>
            <a:off x="3429000" y="4297680"/>
            <a:ext cx="2560320" cy="1645920"/>
          </a:xfrm>
          <a:prstGeom prst="roundRect">
            <a:avLst/>
          </a:prstGeom>
          <a:solidFill>
            <a:srgbClr val="1E293B"/>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7171"/>
                </a:solidFill>
                <a:latin typeface="Segoe UI"/>
              </a:defRPr>
            </a:pPr>
            <a:r>
              <a:t>Pillar 2. 예외 처리</a:t>
            </a:r>
          </a:p>
          <a:p>
            <a:pPr>
              <a:spcBef>
                <a:spcPts val="600"/>
              </a:spcBef>
              <a:defRPr sz="1100">
                <a:solidFill>
                  <a:srgbClr val="94A3B8"/>
                </a:solidFill>
                <a:latin typeface="Segoe UI"/>
              </a:defRPr>
            </a:pPr>
            <a:r>
              <a:t>30fps 서킷브레이커 &amp; 장애 생존</a:t>
            </a:r>
          </a:p>
        </p:txBody>
      </p:sp>
      <p:sp>
        <p:nvSpPr>
          <p:cNvPr id="6" name="Rounded Rectangle 5"/>
          <p:cNvSpPr/>
          <p:nvPr/>
        </p:nvSpPr>
        <p:spPr>
          <a:xfrm>
            <a:off x="6126480" y="4297680"/>
            <a:ext cx="2560320" cy="164592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4D399"/>
                </a:solidFill>
                <a:latin typeface="Segoe UI"/>
              </a:defRPr>
            </a:pPr>
            <a:r>
              <a:t>Pillar 3. 동시성/성능</a:t>
            </a:r>
          </a:p>
          <a:p>
            <a:pPr>
              <a:spcBef>
                <a:spcPts val="600"/>
              </a:spcBef>
              <a:defRPr sz="1100">
                <a:solidFill>
                  <a:srgbClr val="94A3B8"/>
                </a:solidFill>
                <a:latin typeface="Segoe UI"/>
              </a:defRPr>
            </a:pPr>
            <a:r>
              <a:t>DetectorPool &amp; 4세션 +114% 실측</a:t>
            </a:r>
          </a:p>
        </p:txBody>
      </p:sp>
      <p:sp>
        <p:nvSpPr>
          <p:cNvPr id="7" name="Rounded Rectangle 6"/>
          <p:cNvSpPr/>
          <p:nvPr/>
        </p:nvSpPr>
        <p:spPr>
          <a:xfrm>
            <a:off x="8823960" y="4297680"/>
            <a:ext cx="2560320" cy="1645920"/>
          </a:xfrm>
          <a:prstGeom prst="roundRect">
            <a:avLst/>
          </a:prstGeom>
          <a:solidFill>
            <a:srgbClr val="1E293B"/>
          </a:solidFill>
          <a:ln w="1524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A78BFA"/>
                </a:solidFill>
                <a:latin typeface="Segoe UI"/>
              </a:defRPr>
            </a:pPr>
            <a:r>
              <a:t>Pillar 4. 구조화 로깅</a:t>
            </a:r>
          </a:p>
          <a:p>
            <a:pPr>
              <a:spcBef>
                <a:spcPts val="600"/>
              </a:spcBef>
              <a:defRPr sz="1100">
                <a:solidFill>
                  <a:srgbClr val="94A3B8"/>
                </a:solidFill>
                <a:latin typeface="Segoe UI"/>
              </a:defRPr>
            </a:pPr>
            <a:r>
              <a:t>JSON 분산 추적 &amp; 30fps 샘플링</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100" b="1">
                <a:solidFill>
                  <a:srgbClr val="38BDF8"/>
                </a:solidFill>
                <a:latin typeface="Segoe UI"/>
              </a:defRPr>
            </a:pPr>
            <a:r>
              <a:t>SYSTEM ARCHITECTURE</a:t>
            </a:r>
          </a:p>
        </p:txBody>
      </p:sp>
      <p:sp>
        <p:nvSpPr>
          <p:cNvPr id="3" name="TextBox 2"/>
          <p:cNvSpPr txBox="1"/>
          <p:nvPr/>
        </p:nvSpPr>
        <p:spPr>
          <a:xfrm>
            <a:off x="731520" y="685800"/>
            <a:ext cx="10698480" cy="548640"/>
          </a:xfrm>
          <a:prstGeom prst="rect">
            <a:avLst/>
          </a:prstGeom>
          <a:noFill/>
        </p:spPr>
        <p:txBody>
          <a:bodyPr wrap="square">
            <a:spAutoFit/>
          </a:bodyPr>
          <a:lstStyle/>
          <a:p>
            <a:pPr>
              <a:defRPr sz="2200" b="1">
                <a:solidFill>
                  <a:srgbClr val="F8FAFC"/>
                </a:solidFill>
                <a:latin typeface="Segoe UI"/>
              </a:defRPr>
            </a:pPr>
            <a:r>
              <a:t>3-Tier 분산 마이크로서비스 아키텍처</a:t>
            </a:r>
          </a:p>
        </p:txBody>
      </p:sp>
      <p:sp>
        <p:nvSpPr>
          <p:cNvPr id="4" name="Rounded Rectangle 3"/>
          <p:cNvSpPr/>
          <p:nvPr/>
        </p:nvSpPr>
        <p:spPr>
          <a:xfrm>
            <a:off x="731520" y="1463040"/>
            <a:ext cx="2560320" cy="4114800"/>
          </a:xfrm>
          <a:prstGeom prst="roundRect">
            <a:avLst/>
          </a:prstGeom>
          <a:solidFill>
            <a:srgbClr val="1E293B"/>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BBF24"/>
                </a:solidFill>
                <a:latin typeface="Segoe UI"/>
              </a:defRPr>
            </a:pPr>
            <a:r>
              <a:t>📱 Client (스마트폰)</a:t>
            </a:r>
          </a:p>
          <a:p>
            <a:pPr>
              <a:spcBef>
                <a:spcPts val="400"/>
              </a:spcBef>
              <a:defRPr sz="1100" b="1">
                <a:solidFill>
                  <a:srgbClr val="F8FAFC"/>
                </a:solidFill>
                <a:latin typeface="Segoe UI"/>
              </a:defRPr>
            </a:pPr>
            <a:r>
              <a:t>30fps 비디오 스트림</a:t>
            </a:r>
          </a:p>
          <a:p>
            <a:pPr>
              <a:spcBef>
                <a:spcPts val="1000"/>
              </a:spcBef>
              <a:defRPr sz="1000">
                <a:solidFill>
                  <a:srgbClr val="94A3B8"/>
                </a:solidFill>
                <a:latin typeface="Segoe UI"/>
              </a:defRPr>
            </a:pPr>
            <a:r>
              <a:t>• Base64 JPEG 전송 (480x360, q=0.6)</a:t>
            </a:r>
            <a:br/>
            <a:r>
              <a:t>• 33ms 주기 실시간 WSS 웹소켓</a:t>
            </a:r>
            <a:br/>
            <a:r>
              <a:t>• max_inflight_frames: 2 백프레셔 적용</a:t>
            </a:r>
          </a:p>
        </p:txBody>
      </p:sp>
      <p:sp>
        <p:nvSpPr>
          <p:cNvPr id="5" name="Rounded Rectangle 4"/>
          <p:cNvSpPr/>
          <p:nvPr/>
        </p:nvSpPr>
        <p:spPr>
          <a:xfrm>
            <a:off x="3429000" y="1463040"/>
            <a:ext cx="2560320" cy="411480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latin typeface="Segoe UI"/>
              </a:defRPr>
            </a:pPr>
            <a:r>
              <a:t>🌐 Container A (Gateway :8443)</a:t>
            </a:r>
          </a:p>
          <a:p>
            <a:pPr>
              <a:spcBef>
                <a:spcPts val="400"/>
              </a:spcBef>
              <a:defRPr sz="1100" b="1">
                <a:solidFill>
                  <a:srgbClr val="F8FAFC"/>
                </a:solidFill>
                <a:latin typeface="Segoe UI"/>
              </a:defRPr>
            </a:pPr>
            <a:r>
              <a:t>웹 / 보안 게이트웨이</a:t>
            </a:r>
          </a:p>
          <a:p>
            <a:pPr>
              <a:spcBef>
                <a:spcPts val="1000"/>
              </a:spcBef>
              <a:defRPr sz="1000">
                <a:solidFill>
                  <a:srgbClr val="94A3B8"/>
                </a:solidFill>
                <a:latin typeface="Segoe UI"/>
              </a:defRPr>
            </a:pPr>
            <a:r>
              <a:t>• TLS 자체 인증서 발급 &amp; WSS 라우팅</a:t>
            </a:r>
            <a:br/>
            <a:r>
              <a:t>• 1:1 QR 세션 매칭 (PC ↔ 폰)</a:t>
            </a:r>
            <a:br/>
            <a:r>
              <a:t>• 서킷브레이커 래핑 &amp; 프레임 릴레이</a:t>
            </a:r>
            <a:br/>
            <a:r>
              <a:t>• HTML5 6000x4500 무한 캔버스 렌더링</a:t>
            </a:r>
          </a:p>
        </p:txBody>
      </p:sp>
      <p:sp>
        <p:nvSpPr>
          <p:cNvPr id="6" name="Rounded Rectangle 5"/>
          <p:cNvSpPr/>
          <p:nvPr/>
        </p:nvSpPr>
        <p:spPr>
          <a:xfrm>
            <a:off x="6126480" y="1463040"/>
            <a:ext cx="2560320" cy="411480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4D399"/>
                </a:solidFill>
                <a:latin typeface="Segoe UI"/>
              </a:defRPr>
            </a:pPr>
            <a:r>
              <a:t>👁️ Container B (Vision :8001)</a:t>
            </a:r>
          </a:p>
          <a:p>
            <a:pPr>
              <a:spcBef>
                <a:spcPts val="400"/>
              </a:spcBef>
              <a:defRPr sz="1100" b="1">
                <a:solidFill>
                  <a:srgbClr val="F8FAFC"/>
                </a:solidFill>
                <a:latin typeface="Segoe UI"/>
              </a:defRPr>
            </a:pPr>
            <a:r>
              <a:t>영상 분석 비전 엔진</a:t>
            </a:r>
          </a:p>
          <a:p>
            <a:pPr>
              <a:spcBef>
                <a:spcPts val="1000"/>
              </a:spcBef>
              <a:defRPr sz="1000">
                <a:solidFill>
                  <a:srgbClr val="94A3B8"/>
                </a:solidFill>
                <a:latin typeface="Segoe UI"/>
              </a:defRPr>
            </a:pPr>
            <a:r>
              <a:t>• MediaPipe HandLandmarker (VIDEO 모드)</a:t>
            </a:r>
            <a:br/>
            <a:r>
              <a:t>• 21개 관절 3D 정규화 좌표 추출</a:t>
            </a:r>
            <a:br/>
            <a:r>
              <a:t>• ⭐ 7KB 이미지 ➔ 500B 좌표로 93% 압축</a:t>
            </a:r>
            <a:br/>
            <a:r>
              <a:t>• run_in_threadpool &amp; DetectorPool 격리</a:t>
            </a:r>
          </a:p>
        </p:txBody>
      </p:sp>
      <p:sp>
        <p:nvSpPr>
          <p:cNvPr id="7" name="Rounded Rectangle 6"/>
          <p:cNvSpPr/>
          <p:nvPr/>
        </p:nvSpPr>
        <p:spPr>
          <a:xfrm>
            <a:off x="8823960" y="1463040"/>
            <a:ext cx="2560320" cy="4114800"/>
          </a:xfrm>
          <a:prstGeom prst="roundRect">
            <a:avLst/>
          </a:prstGeom>
          <a:solidFill>
            <a:srgbClr val="1E293B"/>
          </a:solidFill>
          <a:ln w="1524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A78BFA"/>
                </a:solidFill>
                <a:latin typeface="Segoe UI"/>
              </a:defRPr>
            </a:pPr>
            <a:r>
              <a:t>🧠 Container C (Motion :8002)</a:t>
            </a:r>
          </a:p>
          <a:p>
            <a:pPr>
              <a:spcBef>
                <a:spcPts val="400"/>
              </a:spcBef>
              <a:defRPr sz="1100" b="1">
                <a:solidFill>
                  <a:srgbClr val="F8FAFC"/>
                </a:solidFill>
                <a:latin typeface="Segoe UI"/>
              </a:defRPr>
            </a:pPr>
            <a:r>
              <a:t>동작 판별 모션 엔진</a:t>
            </a:r>
          </a:p>
          <a:p>
            <a:pPr>
              <a:spcBef>
                <a:spcPts val="1000"/>
              </a:spcBef>
              <a:defRPr sz="1000">
                <a:solidFill>
                  <a:srgbClr val="94A3B8"/>
                </a:solidFill>
                <a:latin typeface="Segoe UI"/>
              </a:defRPr>
            </a:pPr>
            <a:r>
              <a:t>• 6대 기하학적 제스처 분류 (DRAW, ERASE...)</a:t>
            </a:r>
            <a:br/>
            <a:r>
              <a:t>• 속도 적응형 EMA 손떨림 필터 (3단계)</a:t>
            </a:r>
            <a:br/>
            <a:r>
              <a:t>• 3프레임 슬라이딩 윈도우 디바운스</a:t>
            </a:r>
            <a:br/>
            <a:r>
              <a:t>• 비대칭 0초 무지연 펜-업 컷오프</a:t>
            </a:r>
          </a:p>
        </p:txBody>
      </p:sp>
      <p:sp>
        <p:nvSpPr>
          <p:cNvPr id="8" name="Rounded Rectangle 7"/>
          <p:cNvSpPr/>
          <p:nvPr/>
        </p:nvSpPr>
        <p:spPr>
          <a:xfrm>
            <a:off x="731520" y="5760720"/>
            <a:ext cx="10698480" cy="640080"/>
          </a:xfrm>
          <a:prstGeom prst="roundRect">
            <a:avLst/>
          </a:prstGeom>
          <a:solidFill>
            <a:srgbClr val="0A0F1D"/>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87171"/>
                </a:solidFill>
                <a:latin typeface="Segoe UI"/>
              </a:defRPr>
            </a:pPr>
            <a:r>
              <a:t>⚠️ 진단 결과: PoC는 성공했으나, 하드코딩 · 침묵 예외 · 동시 접속 오염 · 무로깅 · 테스트 0개 등 실무 배포 불가 결함 발견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100" b="1">
                <a:solidFill>
                  <a:srgbClr val="38BDF8"/>
                </a:solidFill>
                <a:latin typeface="Segoe UI"/>
              </a:defRPr>
            </a:pPr>
            <a:r>
              <a:t>ENGINEERING PILLAR 1</a:t>
            </a:r>
          </a:p>
        </p:txBody>
      </p:sp>
      <p:sp>
        <p:nvSpPr>
          <p:cNvPr id="3" name="TextBox 2"/>
          <p:cNvSpPr txBox="1"/>
          <p:nvPr/>
        </p:nvSpPr>
        <p:spPr>
          <a:xfrm>
            <a:off x="731520" y="685800"/>
            <a:ext cx="10698480" cy="548640"/>
          </a:xfrm>
          <a:prstGeom prst="rect">
            <a:avLst/>
          </a:prstGeom>
          <a:noFill/>
        </p:spPr>
        <p:txBody>
          <a:bodyPr wrap="square">
            <a:spAutoFit/>
          </a:bodyPr>
          <a:lstStyle/>
          <a:p>
            <a:pPr>
              <a:defRPr sz="2200" b="1">
                <a:solidFill>
                  <a:srgbClr val="F8FAFC"/>
                </a:solidFill>
                <a:latin typeface="Segoe UI"/>
              </a:defRPr>
            </a:pPr>
            <a:r>
              <a:t>Pillar 1. 파라미터화 및 설정 단일 출처화 (SSOT)</a:t>
            </a:r>
          </a:p>
        </p:txBody>
      </p:sp>
      <p:sp>
        <p:nvSpPr>
          <p:cNvPr id="4" name="Rounded Rectangle 3"/>
          <p:cNvSpPr/>
          <p:nvPr/>
        </p:nvSpPr>
        <p:spPr>
          <a:xfrm>
            <a:off x="731520" y="1463040"/>
            <a:ext cx="5212080" cy="4754880"/>
          </a:xfrm>
          <a:prstGeom prst="roundRect">
            <a:avLst/>
          </a:prstGeom>
          <a:solidFill>
            <a:srgbClr val="1E293B"/>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7171"/>
                </a:solidFill>
              </a:defRPr>
            </a:pPr>
            <a:r>
              <a:t>❌ 수정 전 (Before: 하드코딩 산재)</a:t>
            </a:r>
          </a:p>
          <a:p>
            <a:pPr>
              <a:spcBef>
                <a:spcPts val="800"/>
              </a:spcBef>
              <a:defRPr sz="1100">
                <a:solidFill>
                  <a:srgbClr val="94A3B8"/>
                </a:solidFill>
              </a:defRPr>
            </a:pPr>
            <a:r>
              <a:t>• IP 3곳 하드코딩: DEFAULT_HOST_IP = '192.168.55.208'</a:t>
            </a:r>
            <a:br/>
            <a:r>
              <a:t>  ➔ 공유기/카페 이동 시 IP 변경되어 QR 접속 100% 먹통</a:t>
            </a:r>
            <a:br/>
            <a:r>
              <a:t>• 포트 번호 8곳 산재: 8443, 8001, 8002가 5개 계층에 분산</a:t>
            </a:r>
            <a:br/>
            <a:r>
              <a:t>• 제스처 임계값 매직넘버 9종:</a:t>
            </a:r>
            <a:br/>
            <a:r>
              <a:t>  - 엄지 폄 거리 0.15, 지우개 높이차 0.12, 줌 속도 0.008</a:t>
            </a:r>
            <a:br/>
            <a:r>
              <a:t>  - EMA 가중치 (0.35, 0.50, 0.85)가 코드에 직접 기재</a:t>
            </a:r>
            <a:br/>
            <a:r>
              <a:t>  ➔ 감도 튜닝 시 도커 이미지 매번 재빌드 필요</a:t>
            </a:r>
          </a:p>
        </p:txBody>
      </p:sp>
      <p:sp>
        <p:nvSpPr>
          <p:cNvPr id="5" name="Rounded Rectangle 4"/>
          <p:cNvSpPr/>
          <p:nvPr/>
        </p:nvSpPr>
        <p:spPr>
          <a:xfrm>
            <a:off x="6217920" y="1463040"/>
            <a:ext cx="5212080" cy="475488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4D399"/>
                </a:solidFill>
              </a:defRPr>
            </a:pPr>
            <a:r>
              <a:t>✅ 수정 후 (After: 단일 출처 &amp; 자동 탐지)</a:t>
            </a:r>
          </a:p>
          <a:p>
            <a:pPr>
              <a:spcBef>
                <a:spcPts val="800"/>
              </a:spcBef>
              <a:defRPr sz="1100">
                <a:solidFill>
                  <a:srgbClr val="94A3B8"/>
                </a:solidFill>
              </a:defRPr>
            </a:pPr>
            <a:r>
              <a:t>• config/default.yaml 시스템 단일 출처(SSOT) 구축</a:t>
            </a:r>
            <a:br/>
            <a:r>
              <a:t>  ➔ 환경변수(AIRCANVAS__...)로 계층적 오버라이드 지원</a:t>
            </a:r>
            <a:br/>
            <a:r>
              <a:t>• scripts/compose_up.py 호스트 LAN IP 런타임 자동 탐지:</a:t>
            </a:r>
            <a:br/>
            <a:r>
              <a:t>  - UDP 더미 소켓(8.8.8.8)으로 현재 Wi-Fi IP 0.0001초 탐지</a:t>
            </a:r>
            <a:br/>
            <a:r>
              <a:t>  - 네트워크 환경이 바뀌어도 QR 주소 자동 갱신</a:t>
            </a:r>
            <a:br/>
            <a:r>
              <a:t>• 소스코드 내 사설 IP / 포트 리터럴 0개 달성</a:t>
            </a:r>
            <a:br/>
            <a:r>
              <a:t>• 13종 임계값 기본값 보존 테스트 (정합성 100% 강제)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100" b="1">
                <a:solidFill>
                  <a:srgbClr val="38BDF8"/>
                </a:solidFill>
                <a:latin typeface="Segoe UI"/>
              </a:defRPr>
            </a:pPr>
            <a:r>
              <a:t>ENGINEERING PILLAR 2</a:t>
            </a:r>
          </a:p>
        </p:txBody>
      </p:sp>
      <p:sp>
        <p:nvSpPr>
          <p:cNvPr id="3" name="TextBox 2"/>
          <p:cNvSpPr txBox="1"/>
          <p:nvPr/>
        </p:nvSpPr>
        <p:spPr>
          <a:xfrm>
            <a:off x="731520" y="685800"/>
            <a:ext cx="10698480" cy="548640"/>
          </a:xfrm>
          <a:prstGeom prst="rect">
            <a:avLst/>
          </a:prstGeom>
          <a:noFill/>
        </p:spPr>
        <p:txBody>
          <a:bodyPr wrap="square">
            <a:spAutoFit/>
          </a:bodyPr>
          <a:lstStyle/>
          <a:p>
            <a:pPr>
              <a:defRPr sz="2200" b="1">
                <a:solidFill>
                  <a:srgbClr val="F8FAFC"/>
                </a:solidFill>
                <a:latin typeface="Segoe UI"/>
              </a:defRPr>
            </a:pPr>
            <a:r>
              <a:t>Pillar 2. 예외 처리와 시스템 복구 탄력성 (Degradation)</a:t>
            </a:r>
          </a:p>
        </p:txBody>
      </p:sp>
      <p:sp>
        <p:nvSpPr>
          <p:cNvPr id="4" name="Rounded Rectangle 3"/>
          <p:cNvSpPr/>
          <p:nvPr/>
        </p:nvSpPr>
        <p:spPr>
          <a:xfrm>
            <a:off x="731520" y="1463040"/>
            <a:ext cx="3474720" cy="411480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latin typeface="Segoe UI"/>
              </a:defRPr>
            </a:pPr>
            <a:r>
              <a:t>1. 예외 세분화 &amp; 서킷 브레이커</a:t>
            </a:r>
          </a:p>
          <a:p>
            <a:pPr>
              <a:spcBef>
                <a:spcPts val="800"/>
              </a:spcBef>
              <a:defRPr sz="1000">
                <a:solidFill>
                  <a:srgbClr val="94A3B8"/>
                </a:solidFill>
                <a:latin typeface="Segoe UI"/>
              </a:defRPr>
            </a:pPr>
            <a:r>
              <a:t>• except: pass 전면 퇴출</a:t>
            </a:r>
            <a:br/>
            <a:r>
              <a:t>• TimeoutException, ConnectError 세분화</a:t>
            </a:r>
            <a:br/>
            <a:r>
              <a:t>• 30fps 특화: 최대 2회 50ms 경량 재시도</a:t>
            </a:r>
            <a:br/>
            <a:r>
              <a:t>• 연속 10회 실패 시 서킷 OPEN (큐 적체 방지)</a:t>
            </a:r>
            <a:br/>
            <a:r>
              <a:t>• 5초 후 HALF_OPEN 자동 복구 탐침</a:t>
            </a:r>
          </a:p>
        </p:txBody>
      </p:sp>
      <p:sp>
        <p:nvSpPr>
          <p:cNvPr id="5" name="Rounded Rectangle 4"/>
          <p:cNvSpPr/>
          <p:nvPr/>
        </p:nvSpPr>
        <p:spPr>
          <a:xfrm>
            <a:off x="4343400" y="1463040"/>
            <a:ext cx="3474720" cy="411480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4D399"/>
                </a:solidFill>
                <a:latin typeface="Segoe UI"/>
              </a:defRPr>
            </a:pPr>
            <a:r>
              <a:t>2. Graceful Degradation (실측)</a:t>
            </a:r>
          </a:p>
          <a:p>
            <a:pPr>
              <a:spcBef>
                <a:spcPts val="800"/>
              </a:spcBef>
              <a:defRPr sz="1000">
                <a:solidFill>
                  <a:srgbClr val="94A3B8"/>
                </a:solidFill>
                <a:latin typeface="Segoe UI"/>
              </a:defRPr>
            </a:pPr>
            <a:r>
              <a:t>• 모션 엔진(C) 강제 종료(docker stop) 실험</a:t>
            </a:r>
            <a:br/>
            <a:r>
              <a:t>• Gateway A 웹서버 200 정상 생존</a:t>
            </a:r>
            <a:br/>
            <a:r>
              <a:t>• PC 캔버스 내용 보존 + 커서 모드 유지</a:t>
            </a:r>
            <a:br/>
            <a:r>
              <a:t>• 화면에 '모션 엔진 점검 중' 안내 배너</a:t>
            </a:r>
            <a:br/>
            <a:r>
              <a:t>• schemas.py 기본값 주입 (null 누수 차단)</a:t>
            </a:r>
          </a:p>
        </p:txBody>
      </p:sp>
      <p:sp>
        <p:nvSpPr>
          <p:cNvPr id="6" name="Rounded Rectangle 5"/>
          <p:cNvSpPr/>
          <p:nvPr/>
        </p:nvSpPr>
        <p:spPr>
          <a:xfrm>
            <a:off x="7955280" y="1463040"/>
            <a:ext cx="3474720" cy="4114800"/>
          </a:xfrm>
          <a:prstGeom prst="roundRect">
            <a:avLst/>
          </a:prstGeom>
          <a:solidFill>
            <a:srgbClr val="1E293B"/>
          </a:solidFill>
          <a:ln w="1524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BBF24"/>
                </a:solidFill>
                <a:latin typeface="Segoe UI"/>
              </a:defRPr>
            </a:pPr>
            <a:r>
              <a:t>3. 종합 헬스체크 (/health/ready)</a:t>
            </a:r>
          </a:p>
          <a:p>
            <a:pPr>
              <a:spcBef>
                <a:spcPts val="800"/>
              </a:spcBef>
              <a:defRPr sz="1000">
                <a:solidFill>
                  <a:srgbClr val="94A3B8"/>
                </a:solidFill>
                <a:latin typeface="Segoe UI"/>
              </a:defRPr>
            </a:pPr>
            <a:r>
              <a:t>• /health: Gateway 프로세스 자체 생존</a:t>
            </a:r>
            <a:br/>
            <a:r>
              <a:t>• /health/ready: 하위 B ➔ C 연결성 전이적 검증</a:t>
            </a:r>
            <a:br/>
            <a:r>
              <a:t>• Container C 다운 시 503 DEGRADED 보고</a:t>
            </a:r>
            <a:br/>
            <a:r>
              <a:t>• Docker Compose healthcheck 연동</a:t>
            </a:r>
            <a:br/>
            <a:r>
              <a:t>  (depends_on: condition: service_healthy)</a:t>
            </a:r>
          </a:p>
        </p:txBody>
      </p:sp>
      <p:sp>
        <p:nvSpPr>
          <p:cNvPr id="7" name="Rounded Rectangle 6"/>
          <p:cNvSpPr/>
          <p:nvPr/>
        </p:nvSpPr>
        <p:spPr>
          <a:xfrm>
            <a:off x="731520" y="5760720"/>
            <a:ext cx="10698480" cy="640080"/>
          </a:xfrm>
          <a:prstGeom prst="roundRect">
            <a:avLst/>
          </a:prstGeom>
          <a:solidFill>
            <a:srgbClr val="0A0F1D"/>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4D399"/>
                </a:solidFill>
                <a:latin typeface="Segoe UI"/>
              </a:defRPr>
            </a:pPr>
            <a:r>
              <a:t>🎯 성과: 하위 컨테이너 강제 다운 시에도 게이트웨이 크래시 0건 · null 좌표 누수로 인한 프론트엔드 에러 0건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100" b="1">
                <a:solidFill>
                  <a:srgbClr val="38BDF8"/>
                </a:solidFill>
                <a:latin typeface="Segoe UI"/>
              </a:defRPr>
            </a:pPr>
            <a:r>
              <a:t>ENGINEERING PILLAR 3</a:t>
            </a:r>
          </a:p>
        </p:txBody>
      </p:sp>
      <p:sp>
        <p:nvSpPr>
          <p:cNvPr id="3" name="TextBox 2"/>
          <p:cNvSpPr txBox="1"/>
          <p:nvPr/>
        </p:nvSpPr>
        <p:spPr>
          <a:xfrm>
            <a:off x="731520" y="685800"/>
            <a:ext cx="10698480" cy="548640"/>
          </a:xfrm>
          <a:prstGeom prst="rect">
            <a:avLst/>
          </a:prstGeom>
          <a:noFill/>
        </p:spPr>
        <p:txBody>
          <a:bodyPr wrap="square">
            <a:spAutoFit/>
          </a:bodyPr>
          <a:lstStyle/>
          <a:p>
            <a:pPr>
              <a:defRPr sz="2200" b="1">
                <a:solidFill>
                  <a:srgbClr val="F8FAFC"/>
                </a:solidFill>
                <a:latin typeface="Segoe UI"/>
              </a:defRPr>
            </a:pPr>
            <a:r>
              <a:t>Pillar 3. 동시성 제어 &amp; 성능 최적화 (이벤트 루프 해방 &amp; DetectorPool)</a:t>
            </a:r>
          </a:p>
        </p:txBody>
      </p:sp>
      <p:sp>
        <p:nvSpPr>
          <p:cNvPr id="4" name="Rounded Rectangle 3"/>
          <p:cNvSpPr/>
          <p:nvPr/>
        </p:nvSpPr>
        <p:spPr>
          <a:xfrm>
            <a:off x="731520" y="1463040"/>
            <a:ext cx="5486400" cy="475488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8BDF8"/>
                </a:solidFill>
              </a:defRPr>
            </a:pPr>
            <a:r>
              <a:t>🛠️ 3대 핵심 엔지니어링 해법</a:t>
            </a:r>
          </a:p>
          <a:p>
            <a:pPr>
              <a:spcBef>
                <a:spcPts val="800"/>
              </a:spcBef>
              <a:defRPr sz="1000">
                <a:solidFill>
                  <a:srgbClr val="94A3B8"/>
                </a:solidFill>
              </a:defRPr>
            </a:pPr>
            <a:r>
              <a:t>1. 스레드풀 오프로딩 (run_in_threadpool)</a:t>
            </a:r>
            <a:br/>
            <a:r>
              <a:t>   • FastAPI 단일 이벤트 루프에서 CPU AI 연산 분리</a:t>
            </a:r>
            <a:br/>
            <a:r>
              <a:t>   • 메인 창구 프리징 해소 ➔ 다른 요청 즉시 수용</a:t>
            </a:r>
            <a:br/>
            <a:br/>
            <a:r>
              <a:t>2. DetectorPool 세션별 격리 (common/detector_pool.py)</a:t>
            </a:r>
            <a:br/>
            <a:r>
              <a:t>   • MediaPipe VIDEO 모드의 추적 텐서 세션별 독립 할당</a:t>
            </a:r>
            <a:br/>
            <a:r>
              <a:t>   • time.time() 대신 세션별 자체 단조 증가 카운터 부여</a:t>
            </a:r>
            <a:br/>
            <a:r>
              <a:t>   ➔ 2인 동시 접속 시 손 좌표 오염 &amp; 시간 역전 100% 차단</a:t>
            </a:r>
            <a:br/>
            <a:br/>
            <a:r>
              <a:t>3. 자동 메모리 회수 (LRU + TTL 600초)</a:t>
            </a:r>
            <a:br/>
            <a:r>
              <a:t>   • 세션 종료 및 10분 유휴 시 모델 인스턴스 자동 파기</a:t>
            </a:r>
          </a:p>
        </p:txBody>
      </p:sp>
      <p:sp>
        <p:nvSpPr>
          <p:cNvPr id="5" name="Rounded Rectangle 4"/>
          <p:cNvSpPr/>
          <p:nvPr/>
        </p:nvSpPr>
        <p:spPr>
          <a:xfrm>
            <a:off x="6492240" y="1463040"/>
            <a:ext cx="4937760" cy="475488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4D399"/>
                </a:solidFill>
              </a:defRPr>
            </a:pPr>
            <a:r>
              <a:t>📊 동시 4세션 실측 벤치마크 (240프레임)</a:t>
            </a:r>
          </a:p>
          <a:p>
            <a:pPr>
              <a:spcBef>
                <a:spcPts val="800"/>
              </a:spcBef>
              <a:defRPr sz="1000">
                <a:solidFill>
                  <a:srgbClr val="94A3B8"/>
                </a:solidFill>
              </a:defRPr>
            </a:pPr>
            <a:r>
              <a:t>• 동시 4세션 처리량:</a:t>
            </a:r>
            <a:br/>
            <a:r>
              <a:t>  수정 전 56.7 fps ➔ 수정 후 121.6 fps (+114% / 2.1배 폭증!)</a:t>
            </a:r>
            <a:br/>
            <a:br/>
            <a:r>
              <a:t>• 동시 4세션 p50 지연 시간:</a:t>
            </a:r>
            <a:br/>
            <a:r>
              <a:t>  수정 전 69.1 ms ➔ 수정 후 24.9 ms (−64% 대폭 단축!)</a:t>
            </a:r>
            <a:br/>
            <a:br/>
            <a:r>
              <a:t>• 동시 4세션 p95 지연 시간:</a:t>
            </a:r>
            <a:br/>
            <a:r>
              <a:t>  수정 전 74.4 ms ➔ 수정 후 47.6 ms (−36% 안정화)</a:t>
            </a:r>
            <a:br/>
            <a:br/>
            <a:r>
              <a:t>💡 실측 데이터 의미:</a:t>
            </a:r>
            <a:br/>
            <a:r>
              <a:t>수정 전 지연(69ms)은 단일 세션(19ms)의 4배로 직렬화 증거.</a:t>
            </a:r>
            <a:br/>
            <a:r>
              <a:t>수정 후 24.9ms는 4개 세션이 병렬 처리되었음을 실증!</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100" b="1">
                <a:solidFill>
                  <a:srgbClr val="38BDF8"/>
                </a:solidFill>
                <a:latin typeface="Segoe UI"/>
              </a:defRPr>
            </a:pPr>
            <a:r>
              <a:t>ENGINEERING PILLAR 4</a:t>
            </a:r>
          </a:p>
        </p:txBody>
      </p:sp>
      <p:sp>
        <p:nvSpPr>
          <p:cNvPr id="3" name="TextBox 2"/>
          <p:cNvSpPr txBox="1"/>
          <p:nvPr/>
        </p:nvSpPr>
        <p:spPr>
          <a:xfrm>
            <a:off x="731520" y="685800"/>
            <a:ext cx="10698480" cy="548640"/>
          </a:xfrm>
          <a:prstGeom prst="rect">
            <a:avLst/>
          </a:prstGeom>
          <a:noFill/>
        </p:spPr>
        <p:txBody>
          <a:bodyPr wrap="square">
            <a:spAutoFit/>
          </a:bodyPr>
          <a:lstStyle/>
          <a:p>
            <a:pPr>
              <a:defRPr sz="2200" b="1">
                <a:solidFill>
                  <a:srgbClr val="F8FAFC"/>
                </a:solidFill>
                <a:latin typeface="Segoe UI"/>
              </a:defRPr>
            </a:pPr>
            <a:r>
              <a:t>Pillar 4. 구조화 로깅 및 관측 가능성 (Observability)</a:t>
            </a:r>
          </a:p>
        </p:txBody>
      </p:sp>
      <p:sp>
        <p:nvSpPr>
          <p:cNvPr id="4" name="Rounded Rectangle 3"/>
          <p:cNvSpPr/>
          <p:nvPr/>
        </p:nvSpPr>
        <p:spPr>
          <a:xfrm>
            <a:off x="731520" y="1463040"/>
            <a:ext cx="4754880" cy="4754880"/>
          </a:xfrm>
          <a:prstGeom prst="roundRect">
            <a:avLst/>
          </a:prstGeom>
          <a:solidFill>
            <a:srgbClr val="1E293B"/>
          </a:solidFill>
          <a:ln w="1524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A78BFA"/>
                </a:solidFill>
              </a:defRPr>
            </a:pPr>
            <a:r>
              <a:t>📝 공통 구조화 로거 (common/logging_setup.py)</a:t>
            </a:r>
          </a:p>
          <a:p>
            <a:pPr>
              <a:spcBef>
                <a:spcPts val="800"/>
              </a:spcBef>
              <a:defRPr sz="1000">
                <a:solidFill>
                  <a:srgbClr val="94A3B8"/>
                </a:solidFill>
              </a:defRPr>
            </a:pPr>
            <a:r>
              <a:t>• 표준 JSON 스키마:</a:t>
            </a:r>
            <a:br/>
            <a:r>
              <a:t>  ts, time, container, level, event, session_id, trace_id, detail</a:t>
            </a:r>
            <a:br/>
            <a:br/>
            <a:r>
              <a:t>• 코드 한 줄 사용법:</a:t>
            </a:r>
            <a:br/>
            <a:r>
              <a:t>  logger.info('frame_relayed', session_id=sid, ...)</a:t>
            </a:r>
            <a:br/>
            <a:br/>
            <a:r>
              <a:t>• 30fps 스마트 샘플링:</a:t>
            </a:r>
            <a:br/>
            <a:r>
              <a:t>  - 정상 프레임: 30개당 1건 요약 기록 (디스크 I/O 97% 절감)</a:t>
            </a:r>
            <a:br/>
            <a:r>
              <a:t>  - 상태 전이(DRAW) &amp; 에러: 100% 즉시 기록</a:t>
            </a:r>
            <a:br/>
            <a:br/>
            <a:r>
              <a:t>• 파일 로테이션 (RotatingFileHandler):</a:t>
            </a:r>
            <a:br/>
            <a:r>
              <a:t>  10MB 단위 최대 5개 파일 보관 + ./logs 볼륨 영속화</a:t>
            </a:r>
          </a:p>
        </p:txBody>
      </p:sp>
      <p:sp>
        <p:nvSpPr>
          <p:cNvPr id="5" name="Rounded Rectangle 4"/>
          <p:cNvSpPr/>
          <p:nvPr/>
        </p:nvSpPr>
        <p:spPr>
          <a:xfrm>
            <a:off x="5760720" y="1463040"/>
            <a:ext cx="5669280" cy="4754880"/>
          </a:xfrm>
          <a:prstGeom prst="roundRect">
            <a:avLst/>
          </a:prstGeom>
          <a:solidFill>
            <a:srgbClr val="0A0F1D"/>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 trace_id 하나로 A ➔ B ➔ C 전 구간 1ms 역추적</a:t>
            </a:r>
          </a:p>
          <a:p>
            <a:pPr>
              <a:spcBef>
                <a:spcPts val="600"/>
              </a:spcBef>
              <a:defRPr sz="900">
                <a:solidFill>
                  <a:srgbClr val="BAE6FD"/>
                </a:solidFill>
              </a:defRPr>
            </a:pPr>
            <a:r>
              <a:t>/* 1. Container A: 스마트폰 프레임 수신 (10:00:00.100) */</a:t>
            </a:r>
            <a:br/>
            <a:r>
              <a:t>{"ts":100, "container":"A", "trace_id":"user1-frame-45",</a:t>
            </a:r>
            <a:br/>
            <a:r>
              <a:t> "event":"frame_received"}</a:t>
            </a:r>
            <a:br/>
            <a:br/>
            <a:r>
              <a:t>/* 2. Container B: AI 추론 완료 (10:00:00.115, 15ms 소요) */</a:t>
            </a:r>
            <a:br/>
            <a:r>
              <a:t>{"ts":115, "container":"B", "trace_id":"user1-frame-45",</a:t>
            </a:r>
            <a:br/>
            <a:r>
              <a:t> "event":"inference_done", "detail":{"inference_ms":15.2}}</a:t>
            </a:r>
            <a:br/>
            <a:br/>
            <a:r>
              <a:t>/* 3. Container C: DRAW 제스처 판별 (10:00:00.118, 0.5ms) */</a:t>
            </a:r>
            <a:br/>
            <a:r>
              <a:t>{"ts":118, "container":"C", "trace_id":"user1-frame-45",</a:t>
            </a:r>
            <a:br/>
            <a:r>
              <a:t> "event":"gesture_computed", "detail":{"action":"DRAW"}}</a:t>
            </a:r>
            <a:br/>
            <a:br/>
            <a:r>
              <a:t>/* 4. Container A: PC 캔버스 전송 완료 (총 20ms 왕복) */</a:t>
            </a:r>
            <a:br/>
            <a:r>
              <a:t>{"ts":120, "container":"A", "trace_id":"user1-frame-45",</a:t>
            </a:r>
            <a:br/>
            <a:r>
              <a:t> "event":"frame_relayed", "detail":{"total_rtt_ms":20.0}}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100" b="1">
                <a:solidFill>
                  <a:srgbClr val="38BDF8"/>
                </a:solidFill>
                <a:latin typeface="Segoe UI"/>
              </a:defRPr>
            </a:pPr>
            <a:r>
              <a:t>AUTOMATED PIPELINE</a:t>
            </a:r>
          </a:p>
        </p:txBody>
      </p:sp>
      <p:sp>
        <p:nvSpPr>
          <p:cNvPr id="3" name="TextBox 2"/>
          <p:cNvSpPr txBox="1"/>
          <p:nvPr/>
        </p:nvSpPr>
        <p:spPr>
          <a:xfrm>
            <a:off x="731520" y="685800"/>
            <a:ext cx="10698480" cy="548640"/>
          </a:xfrm>
          <a:prstGeom prst="rect">
            <a:avLst/>
          </a:prstGeom>
          <a:noFill/>
        </p:spPr>
        <p:txBody>
          <a:bodyPr wrap="square">
            <a:spAutoFit/>
          </a:bodyPr>
          <a:lstStyle/>
          <a:p>
            <a:pPr>
              <a:defRPr sz="2200" b="1">
                <a:solidFill>
                  <a:srgbClr val="F8FAFC"/>
                </a:solidFill>
                <a:latin typeface="Segoe UI"/>
              </a:defRPr>
            </a:pPr>
            <a:r>
              <a:t>The Engine. GitHub Actions CI/CD 파이프라인 &amp; pytest 3계층 구조</a:t>
            </a:r>
          </a:p>
        </p:txBody>
      </p:sp>
      <p:sp>
        <p:nvSpPr>
          <p:cNvPr id="4" name="Rounded Rectangle 3"/>
          <p:cNvSpPr/>
          <p:nvPr/>
        </p:nvSpPr>
        <p:spPr>
          <a:xfrm>
            <a:off x="731520" y="1463040"/>
            <a:ext cx="4754880" cy="475488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defRPr>
            </a:pPr>
            <a:r>
              <a:t>⚙️ GitHub Actions 4-Job &amp; pytest 3계층</a:t>
            </a:r>
          </a:p>
          <a:p>
            <a:pPr>
              <a:spcBef>
                <a:spcPts val="800"/>
              </a:spcBef>
              <a:defRPr sz="1000">
                <a:solidFill>
                  <a:srgbClr val="94A3B8"/>
                </a:solidFill>
              </a:defRPr>
            </a:pPr>
            <a:r>
              <a:t>1. Job Lint (Ruff): 9초 소요</a:t>
            </a:r>
            <a:br/>
            <a:r>
              <a:t>   • 3개 컨테이너 문법, 오타, import 정적 검사</a:t>
            </a:r>
            <a:br/>
            <a:br/>
            <a:r>
              <a:t>2. Job test-light (Unit &amp; Integration): 21초</a:t>
            </a:r>
            <a:br/>
            <a:r>
              <a:t>   • 합성 랜드마크 팩토리 (0.05s) 6대 제스처/EMA 검증</a:t>
            </a:r>
            <a:br/>
            <a:r>
              <a:t>   • 4대 축 강제 검사 (IP/pass/print 안티패턴 차단)</a:t>
            </a:r>
            <a:br/>
            <a:r>
              <a:t>   • QR 세션 매칭 &amp; Graceful Degradation 검증</a:t>
            </a:r>
            <a:br/>
            <a:br/>
            <a:r>
              <a:t>3. Job test-vision (MediaPipe 캐시): 47초</a:t>
            </a:r>
            <a:br/>
            <a:r>
              <a:t>   • 2인 동시 접속 시 세션별 AI 모델 격리 검증</a:t>
            </a:r>
            <a:br/>
            <a:r>
              <a:t>   • 단조 증가 타임스탬프 (시간 역전 방지)</a:t>
            </a:r>
            <a:br/>
            <a:br/>
            <a:r>
              <a:t>4. Job build (Docker &amp; Healthcheck): 1분 59초</a:t>
            </a:r>
            <a:br/>
            <a:r>
              <a:t>   • 3개 이미지 빌드 ➔ 컨테이너 기동 ➔ /health 통과</a:t>
            </a:r>
          </a:p>
        </p:txBody>
      </p:sp>
      <p:sp>
        <p:nvSpPr>
          <p:cNvPr id="5" name="Rounded Rectangle 4"/>
          <p:cNvSpPr/>
          <p:nvPr/>
        </p:nvSpPr>
        <p:spPr>
          <a:xfrm>
            <a:off x="5760720" y="1463040"/>
            <a:ext cx="5669280" cy="4754880"/>
          </a:xfrm>
          <a:prstGeom prst="roundRect">
            <a:avLst/>
          </a:prstGeom>
          <a:solidFill>
            <a:srgbClr val="0A0F1D"/>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4D399"/>
                </a:solidFill>
              </a:defRPr>
            </a:pPr>
            <a:r>
              <a:t>📸 GitHub Actions 실제 실행 성공 화면 (Total 2m 26s)</a:t>
            </a:r>
          </a:p>
        </p:txBody>
      </p:sp>
      <p:pic>
        <p:nvPicPr>
          <p:cNvPr id="6" name="Picture 5" descr="media_1788156503567.png"/>
          <p:cNvPicPr>
            <a:picLocks noChangeAspect="1"/>
          </p:cNvPicPr>
          <p:nvPr/>
        </p:nvPicPr>
        <p:blipFill>
          <a:blip r:embed="rId2"/>
          <a:stretch>
            <a:fillRect/>
          </a:stretch>
        </p:blipFill>
        <p:spPr>
          <a:xfrm>
            <a:off x="5897880" y="2011680"/>
            <a:ext cx="5394960" cy="39319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411480"/>
            <a:ext cx="10698480" cy="320040"/>
          </a:xfrm>
          <a:prstGeom prst="rect">
            <a:avLst/>
          </a:prstGeom>
          <a:noFill/>
        </p:spPr>
        <p:txBody>
          <a:bodyPr wrap="square">
            <a:spAutoFit/>
          </a:bodyPr>
          <a:lstStyle/>
          <a:p>
            <a:pPr>
              <a:defRPr sz="1100" b="1">
                <a:solidFill>
                  <a:srgbClr val="38BDF8"/>
                </a:solidFill>
                <a:latin typeface="Segoe UI"/>
              </a:defRPr>
            </a:pPr>
            <a:r>
              <a:t>CONCLUSION &amp; IMPACT</a:t>
            </a:r>
          </a:p>
        </p:txBody>
      </p:sp>
      <p:sp>
        <p:nvSpPr>
          <p:cNvPr id="3" name="TextBox 2"/>
          <p:cNvSpPr txBox="1"/>
          <p:nvPr/>
        </p:nvSpPr>
        <p:spPr>
          <a:xfrm>
            <a:off x="731520" y="685800"/>
            <a:ext cx="10698480" cy="548640"/>
          </a:xfrm>
          <a:prstGeom prst="rect">
            <a:avLst/>
          </a:prstGeom>
          <a:noFill/>
        </p:spPr>
        <p:txBody>
          <a:bodyPr wrap="square">
            <a:spAutoFit/>
          </a:bodyPr>
          <a:lstStyle/>
          <a:p>
            <a:pPr>
              <a:defRPr sz="2200" b="1">
                <a:solidFill>
                  <a:srgbClr val="F8FAFC"/>
                </a:solidFill>
                <a:latin typeface="Segoe UI"/>
              </a:defRPr>
            </a:pPr>
            <a:r>
              <a:t>결론: 지속 가능한 실무 프로덕션 시스템 달성</a:t>
            </a:r>
          </a:p>
        </p:txBody>
      </p:sp>
      <p:sp>
        <p:nvSpPr>
          <p:cNvPr id="4" name="Rounded Rectangle 3"/>
          <p:cNvSpPr/>
          <p:nvPr/>
        </p:nvSpPr>
        <p:spPr>
          <a:xfrm>
            <a:off x="731520" y="1463040"/>
            <a:ext cx="2560320" cy="4114800"/>
          </a:xfrm>
          <a:prstGeom prst="roundRect">
            <a:avLst/>
          </a:prstGeom>
          <a:solidFill>
            <a:srgbClr val="1E293B"/>
          </a:solidFill>
          <a:ln w="15240">
            <a:solidFill>
              <a:srgbClr val="A78BF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A78BFA"/>
                </a:solidFill>
                <a:latin typeface="Segoe UI"/>
              </a:defRPr>
            </a:pPr>
            <a:r>
              <a:t>1. 관측 가능성 확보</a:t>
            </a:r>
          </a:p>
          <a:p>
            <a:pPr>
              <a:spcBef>
                <a:spcPts val="1200"/>
              </a:spcBef>
              <a:defRPr sz="1000">
                <a:solidFill>
                  <a:srgbClr val="94A3B8"/>
                </a:solidFill>
                <a:latin typeface="Segoe UI"/>
              </a:defRPr>
            </a:pPr>
            <a:r>
              <a:t>• 앱 로그 0줄 ➔ 표준 JSON 로거</a:t>
            </a:r>
            <a:br/>
            <a:r>
              <a:t>• session_id 하나로 A➔B➔C 전 구간 타임라인 1ms 역추적 가능</a:t>
            </a:r>
          </a:p>
        </p:txBody>
      </p:sp>
      <p:sp>
        <p:nvSpPr>
          <p:cNvPr id="5" name="Rounded Rectangle 4"/>
          <p:cNvSpPr/>
          <p:nvPr/>
        </p:nvSpPr>
        <p:spPr>
          <a:xfrm>
            <a:off x="3429000" y="1463040"/>
            <a:ext cx="2560320" cy="4114800"/>
          </a:xfrm>
          <a:prstGeom prst="roundRect">
            <a:avLst/>
          </a:prstGeom>
          <a:solidFill>
            <a:srgbClr val="1E293B"/>
          </a:solidFill>
          <a:ln w="1524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7171"/>
                </a:solidFill>
                <a:latin typeface="Segoe UI"/>
              </a:defRPr>
            </a:pPr>
            <a:r>
              <a:t>2. 장애 생존 탄력성</a:t>
            </a:r>
          </a:p>
          <a:p>
            <a:pPr>
              <a:spcBef>
                <a:spcPts val="1200"/>
              </a:spcBef>
              <a:defRPr sz="1000">
                <a:solidFill>
                  <a:srgbClr val="94A3B8"/>
                </a:solidFill>
                <a:latin typeface="Segoe UI"/>
              </a:defRPr>
            </a:pPr>
            <a:r>
              <a:t>• except: pass 전면 퇴출</a:t>
            </a:r>
            <a:br/>
            <a:r>
              <a:t>• 하위 엔진 다운 시에도 웹서버 200 생존</a:t>
            </a:r>
            <a:br/>
            <a:r>
              <a:t>• 화면 상태 통지 &amp; Fallback 모드</a:t>
            </a:r>
          </a:p>
        </p:txBody>
      </p:sp>
      <p:sp>
        <p:nvSpPr>
          <p:cNvPr id="6" name="Rounded Rectangle 5"/>
          <p:cNvSpPr/>
          <p:nvPr/>
        </p:nvSpPr>
        <p:spPr>
          <a:xfrm>
            <a:off x="6126480" y="1463040"/>
            <a:ext cx="2560320" cy="4114800"/>
          </a:xfrm>
          <a:prstGeom prst="roundRect">
            <a:avLst/>
          </a:prstGeom>
          <a:solidFill>
            <a:srgbClr val="1E293B"/>
          </a:solidFill>
          <a:ln w="1524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4D399"/>
                </a:solidFill>
                <a:latin typeface="Segoe UI"/>
              </a:defRPr>
            </a:pPr>
            <a:r>
              <a:t>3. 동시성 2.1배 향상</a:t>
            </a:r>
          </a:p>
          <a:p>
            <a:pPr>
              <a:spcBef>
                <a:spcPts val="1200"/>
              </a:spcBef>
              <a:defRPr sz="1000">
                <a:solidFill>
                  <a:srgbClr val="94A3B8"/>
                </a:solidFill>
                <a:latin typeface="Segoe UI"/>
              </a:defRPr>
            </a:pPr>
            <a:r>
              <a:t>• 스레드풀 + DetectorPool 격리</a:t>
            </a:r>
            <a:br/>
            <a:r>
              <a:t>• 동시 4세션 처리량 +114% 급증</a:t>
            </a:r>
            <a:br/>
            <a:r>
              <a:t>• p50 지연 69ms ➔ 24.9ms (-64%)</a:t>
            </a:r>
          </a:p>
        </p:txBody>
      </p:sp>
      <p:sp>
        <p:nvSpPr>
          <p:cNvPr id="7" name="Rounded Rectangle 6"/>
          <p:cNvSpPr/>
          <p:nvPr/>
        </p:nvSpPr>
        <p:spPr>
          <a:xfrm>
            <a:off x="8823960" y="1463040"/>
            <a:ext cx="2560320" cy="4114800"/>
          </a:xfrm>
          <a:prstGeom prst="roundRect">
            <a:avLst/>
          </a:prstGeom>
          <a:solidFill>
            <a:srgbClr val="1E293B"/>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8BDF8"/>
                </a:solidFill>
                <a:latin typeface="Segoe UI"/>
              </a:defRPr>
            </a:pPr>
            <a:r>
              <a:t>4. CI/CD 자동화 보호</a:t>
            </a:r>
          </a:p>
          <a:p>
            <a:pPr>
              <a:spcBef>
                <a:spcPts val="1200"/>
              </a:spcBef>
              <a:defRPr sz="1000">
                <a:solidFill>
                  <a:srgbClr val="94A3B8"/>
                </a:solidFill>
                <a:latin typeface="Segoe UI"/>
              </a:defRPr>
            </a:pPr>
            <a:r>
              <a:t>• 97개 pytest 8.69초 100% 통과</a:t>
            </a:r>
            <a:br/>
            <a:r>
              <a:t>• 안티패턴 자동 차단 (test_pillars)</a:t>
            </a:r>
            <a:br/>
            <a:r>
              <a:t>• GitHub Actions 4-Job 무결성 보장</a:t>
            </a:r>
          </a:p>
        </p:txBody>
      </p:sp>
      <p:sp>
        <p:nvSpPr>
          <p:cNvPr id="8" name="Rounded Rectangle 7"/>
          <p:cNvSpPr/>
          <p:nvPr/>
        </p:nvSpPr>
        <p:spPr>
          <a:xfrm>
            <a:off x="731520" y="5760720"/>
            <a:ext cx="10698480" cy="640080"/>
          </a:xfrm>
          <a:prstGeom prst="roundRect">
            <a:avLst/>
          </a:prstGeom>
          <a:solidFill>
            <a:srgbClr val="0A0F1D"/>
          </a:solidFill>
          <a:ln w="1524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8FAFC"/>
                </a:solidFill>
                <a:latin typeface="Segoe UI"/>
              </a:defRPr>
            </a:pPr>
            <a:r>
              <a:t>🎯 '돌아가는 20%의 코드'에서 24시간 무중단으로 버티는 '80%의 엔지니어링 기반'으로의 도약</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